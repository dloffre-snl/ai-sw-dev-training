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73" r:id="rId3"/>
    <p:sldId id="278" r:id="rId4"/>
    <p:sldId id="277" r:id="rId5"/>
    <p:sldId id="275" r:id="rId6"/>
    <p:sldId id="279" r:id="rId7"/>
    <p:sldId id="276" r:id="rId8"/>
    <p:sldId id="280" r:id="rId9"/>
    <p:sldId id="269" r:id="rId10"/>
    <p:sldId id="281" r:id="rId11"/>
    <p:sldId id="282" r:id="rId12"/>
    <p:sldId id="2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4D44-B767-7712-9B34-A9AB24057E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FB2FB2-685E-BB50-3BA5-8827E4397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B27DCC-8177-A30B-910C-8A7884057C5C}"/>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682842F7-4BC0-49ED-255C-54FBBCA4B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19D77-9FF3-98F1-D7F3-CC770B6A83C0}"/>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266068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F4A80-EAC9-B1FD-7512-268D0A4B43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A2636-C407-B8BE-8B83-737B1AE461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FF6C32-F3E5-021E-3290-4CB127D6DE3A}"/>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76B3940C-5D3D-2855-850D-52EE2BC48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F0AAED-BAB8-4EC9-7EAF-52A7253B972D}"/>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2378064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F986-323B-37B5-4CAD-E6C22A1924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C4AA90-AD8F-536C-D4BE-CB2ABE434D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9B2D79-F0DD-7464-F349-AEF46945C938}"/>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A559FA0E-FC5B-7342-49CD-08B2ED821E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EB542D-D1BF-B1EE-2771-0EEB1961468B}"/>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1135401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38590-4F8F-F422-D724-92360BA7A3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4026E-409A-24C0-3E97-CFB976ADDA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539679-E85A-D719-C85B-B173B88D74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446F59-631D-4576-8F4B-3F7DD2FDA39F}"/>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6" name="Footer Placeholder 5">
            <a:extLst>
              <a:ext uri="{FF2B5EF4-FFF2-40B4-BE49-F238E27FC236}">
                <a16:creationId xmlns:a16="http://schemas.microsoft.com/office/drawing/2014/main" id="{256AAE6E-D2D2-F327-803F-00A0200C57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8D622C-D8B0-9EDC-ADEA-8860E12ADBE5}"/>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968279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01B11-3422-C6DD-4B44-A057913578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E812B0-C8E5-B145-BECD-5DBF541DE0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57C-4F94-5F23-23E6-CE9ADF5E2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3D406C-6A11-8BC2-DC90-BF43344EAB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1F0698-3B02-E565-3D40-27B956D39B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EFC13E-7ACE-416B-AD4E-A3E2091DE785}"/>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8" name="Footer Placeholder 7">
            <a:extLst>
              <a:ext uri="{FF2B5EF4-FFF2-40B4-BE49-F238E27FC236}">
                <a16:creationId xmlns:a16="http://schemas.microsoft.com/office/drawing/2014/main" id="{3D356CD3-15D5-5452-CAF2-B1812E36BC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D3A0F0-7504-D3D3-31B2-1A31AC88A2CD}"/>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4194091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9FE35-2A2D-B713-66A0-4160C5FFD7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124C9C-157C-4C6D-D844-C2800F235BC1}"/>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4" name="Footer Placeholder 3">
            <a:extLst>
              <a:ext uri="{FF2B5EF4-FFF2-40B4-BE49-F238E27FC236}">
                <a16:creationId xmlns:a16="http://schemas.microsoft.com/office/drawing/2014/main" id="{D3A96DBA-3235-B416-4644-D72E9937B5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54A5E8-8B71-C004-8CE0-E88233430E86}"/>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2188492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93413C-0DEF-BE6D-93DE-176DC768A5AC}"/>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3" name="Footer Placeholder 2">
            <a:extLst>
              <a:ext uri="{FF2B5EF4-FFF2-40B4-BE49-F238E27FC236}">
                <a16:creationId xmlns:a16="http://schemas.microsoft.com/office/drawing/2014/main" id="{B0B66E3D-81A0-77C7-E4B3-003C65E8D3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38EED6-70B0-58D0-0319-A1AF1E46F354}"/>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2352688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D7FB-7C64-3DD5-B8A1-5A1026187C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ECAB44-E393-07D4-5CC8-7E7AFF865B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E74132-CE2E-7304-C38E-731C592C80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0E5C6-BBF3-B421-F523-4C2865496112}"/>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6" name="Footer Placeholder 5">
            <a:extLst>
              <a:ext uri="{FF2B5EF4-FFF2-40B4-BE49-F238E27FC236}">
                <a16:creationId xmlns:a16="http://schemas.microsoft.com/office/drawing/2014/main" id="{242FFF6C-FE25-3899-1313-6FCEC0A218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BBC9D7-FA26-552A-52D3-5D2CD69F9E5A}"/>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816031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6A35C-E7CA-470B-5D32-BF8F94943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CDB056-CCA0-52CF-D7BD-888B0EA58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9B392F-DFE7-54EF-2C4E-29F3F9AF7E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7DF29-F805-8FA8-FA2D-9BB050F80FB1}"/>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6" name="Footer Placeholder 5">
            <a:extLst>
              <a:ext uri="{FF2B5EF4-FFF2-40B4-BE49-F238E27FC236}">
                <a16:creationId xmlns:a16="http://schemas.microsoft.com/office/drawing/2014/main" id="{D8111BCC-0004-0176-AC63-F47AEC783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0508B3-A293-C2F9-C57A-24AAE7F46CC7}"/>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1463396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DEA21-F46C-1572-07F7-29591D0F3C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EA3424-45FA-13AE-D122-89CE5546A1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8A92F8-CA57-578F-8978-19935417192E}"/>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EEE6D25E-836B-B35A-CB1D-2EFB7D560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E73EF1-B4D8-611F-D82E-8B6FBD54785F}"/>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3080144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FB9668-FAC3-F813-E4CB-58F601E506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1F500-FEC6-C975-1853-BEE0DCFD67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0CF65-D41A-1B04-F648-9075F2477931}"/>
              </a:ext>
            </a:extLst>
          </p:cNvPr>
          <p:cNvSpPr>
            <a:spLocks noGrp="1"/>
          </p:cNvSpPr>
          <p:nvPr>
            <p:ph type="dt" sz="half" idx="10"/>
          </p:nvPr>
        </p:nvSpPr>
        <p:spPr/>
        <p:txBody>
          <a:body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A6C19EF4-933B-C823-D570-343DFF0A1B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F8E63-D61A-EE5B-D175-A0833C20E474}"/>
              </a:ext>
            </a:extLst>
          </p:cNvPr>
          <p:cNvSpPr>
            <a:spLocks noGrp="1"/>
          </p:cNvSpPr>
          <p:nvPr>
            <p:ph type="sldNum" sz="quarter" idx="12"/>
          </p:nvPr>
        </p:nvSpPr>
        <p:spPr/>
        <p:txBody>
          <a:bodyPr/>
          <a:lstStyle/>
          <a:p>
            <a:fld id="{D75F8344-30A9-7049-A142-3BCD5AD9DB2D}" type="slidenum">
              <a:rPr lang="en-US" smtClean="0"/>
              <a:t>‹#›</a:t>
            </a:fld>
            <a:endParaRPr lang="en-US"/>
          </a:p>
        </p:txBody>
      </p:sp>
    </p:spTree>
    <p:extLst>
      <p:ext uri="{BB962C8B-B14F-4D97-AF65-F5344CB8AC3E}">
        <p14:creationId xmlns:p14="http://schemas.microsoft.com/office/powerpoint/2010/main" val="131354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98D6C3-474F-2E5D-6037-D45F87A550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B07024-96B8-D13E-E67D-18D6EA0CD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A60B89-702C-730A-66F7-C2CBA778AD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E2311B-658E-6B4B-98DF-2A064BF54AB3}" type="datetimeFigureOut">
              <a:rPr lang="en-US" smtClean="0"/>
              <a:t>5/8/26</a:t>
            </a:fld>
            <a:endParaRPr lang="en-US"/>
          </a:p>
        </p:txBody>
      </p:sp>
      <p:sp>
        <p:nvSpPr>
          <p:cNvPr id="5" name="Footer Placeholder 4">
            <a:extLst>
              <a:ext uri="{FF2B5EF4-FFF2-40B4-BE49-F238E27FC236}">
                <a16:creationId xmlns:a16="http://schemas.microsoft.com/office/drawing/2014/main" id="{E13AB064-0B5B-594D-9EF0-4FC8908389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052832-7DAF-B852-727D-AF6DE71E3C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5F8344-30A9-7049-A142-3BCD5AD9DB2D}" type="slidenum">
              <a:rPr lang="en-US" smtClean="0"/>
              <a:t>‹#›</a:t>
            </a:fld>
            <a:endParaRPr lang="en-US"/>
          </a:p>
        </p:txBody>
      </p:sp>
    </p:spTree>
    <p:extLst>
      <p:ext uri="{BB962C8B-B14F-4D97-AF65-F5344CB8AC3E}">
        <p14:creationId xmlns:p14="http://schemas.microsoft.com/office/powerpoint/2010/main" val="3754647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iki.wireshark.org/samplecaptur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0A55-626F-D225-52A5-A3324B3DF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DE656-5378-AB64-EAE3-FE0D9F9C4204}"/>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AEDE9F43-5A6A-7611-9127-1FED2BA4AC3F}"/>
              </a:ext>
            </a:extLst>
          </p:cNvPr>
          <p:cNvSpPr>
            <a:spLocks noGrp="1"/>
          </p:cNvSpPr>
          <p:nvPr>
            <p:ph idx="1"/>
          </p:nvPr>
        </p:nvSpPr>
        <p:spPr>
          <a:xfrm>
            <a:off x="838200" y="1825625"/>
            <a:ext cx="11080898" cy="4351338"/>
          </a:xfrm>
        </p:spPr>
        <p:txBody>
          <a:bodyPr>
            <a:normAutofit/>
          </a:bodyPr>
          <a:lstStyle/>
          <a:p>
            <a:r>
              <a:rPr lang="en-US" b="1" dirty="0"/>
              <a:t>Step 1: </a:t>
            </a:r>
            <a:r>
              <a:rPr lang="en-US" dirty="0"/>
              <a:t>Open blank project</a:t>
            </a:r>
          </a:p>
          <a:p>
            <a:pPr lvl="1"/>
            <a:r>
              <a:rPr lang="en-US" dirty="0"/>
              <a:t>Make a “test-project” folder in your home directory to hold your project</a:t>
            </a:r>
          </a:p>
          <a:p>
            <a:pPr lvl="1"/>
            <a:r>
              <a:rPr lang="en-US" dirty="0"/>
              <a:t>Run cursor (</a:t>
            </a:r>
            <a:r>
              <a:rPr lang="en-US" dirty="0" err="1"/>
              <a:t>cursor.dev</a:t>
            </a:r>
            <a:r>
              <a:rPr lang="en-US" dirty="0"/>
              <a:t>?) (already installed? Set API key?)</a:t>
            </a:r>
          </a:p>
          <a:p>
            <a:pPr lvl="1"/>
            <a:r>
              <a:rPr lang="en-US" dirty="0"/>
              <a:t>File </a:t>
            </a:r>
            <a:r>
              <a:rPr lang="en-US" dirty="0">
                <a:sym typeface="Wingdings" pitchFamily="2" charset="2"/>
              </a:rPr>
              <a:t></a:t>
            </a:r>
            <a:r>
              <a:rPr lang="en-US" dirty="0"/>
              <a:t> Open Folder </a:t>
            </a:r>
            <a:r>
              <a:rPr lang="en-US" dirty="0">
                <a:sym typeface="Wingdings" pitchFamily="2" charset="2"/>
              </a:rPr>
              <a:t> “test-project”</a:t>
            </a:r>
            <a:endParaRPr lang="en-US" dirty="0"/>
          </a:p>
          <a:p>
            <a:endParaRPr lang="en-US" dirty="0"/>
          </a:p>
        </p:txBody>
      </p:sp>
      <p:pic>
        <p:nvPicPr>
          <p:cNvPr id="5" name="Picture 4">
            <a:extLst>
              <a:ext uri="{FF2B5EF4-FFF2-40B4-BE49-F238E27FC236}">
                <a16:creationId xmlns:a16="http://schemas.microsoft.com/office/drawing/2014/main" id="{13CB5090-CC6E-FC38-F6C0-2C81C9646979}"/>
              </a:ext>
            </a:extLst>
          </p:cNvPr>
          <p:cNvPicPr>
            <a:picLocks noChangeAspect="1"/>
          </p:cNvPicPr>
          <p:nvPr/>
        </p:nvPicPr>
        <p:blipFill>
          <a:blip r:embed="rId2"/>
          <a:stretch>
            <a:fillRect/>
          </a:stretch>
        </p:blipFill>
        <p:spPr>
          <a:xfrm>
            <a:off x="2574850" y="3533405"/>
            <a:ext cx="6064103" cy="3245361"/>
          </a:xfrm>
          <a:prstGeom prst="rect">
            <a:avLst/>
          </a:prstGeom>
        </p:spPr>
      </p:pic>
    </p:spTree>
    <p:extLst>
      <p:ext uri="{BB962C8B-B14F-4D97-AF65-F5344CB8AC3E}">
        <p14:creationId xmlns:p14="http://schemas.microsoft.com/office/powerpoint/2010/main" val="246947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1FAB-3936-D05E-7328-A14F57828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0E7D2-45AB-D9B8-FF55-211B5DDE4837}"/>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FEB559E0-8BC0-81D2-8717-8A7443FF2538}"/>
              </a:ext>
            </a:extLst>
          </p:cNvPr>
          <p:cNvSpPr>
            <a:spLocks noGrp="1"/>
          </p:cNvSpPr>
          <p:nvPr>
            <p:ph idx="1"/>
          </p:nvPr>
        </p:nvSpPr>
        <p:spPr>
          <a:xfrm>
            <a:off x="838200" y="1825625"/>
            <a:ext cx="5817781" cy="4351338"/>
          </a:xfrm>
        </p:spPr>
        <p:txBody>
          <a:bodyPr>
            <a:normAutofit fontScale="92500" lnSpcReduction="20000"/>
          </a:bodyPr>
          <a:lstStyle/>
          <a:p>
            <a:r>
              <a:rPr lang="en-US" b="1" dirty="0"/>
              <a:t>Step 2: </a:t>
            </a:r>
            <a:r>
              <a:rPr lang="en-US" dirty="0"/>
              <a:t>Ask the AI to create your initial project</a:t>
            </a:r>
          </a:p>
          <a:p>
            <a:pPr lvl="1"/>
            <a:r>
              <a:rPr lang="en-US" dirty="0"/>
              <a:t>In the chat window on the right: </a:t>
            </a:r>
          </a:p>
          <a:p>
            <a:pPr lvl="1"/>
            <a:r>
              <a:rPr lang="en-US" i="1" dirty="0"/>
              <a:t>“Write a library for parsing network packet captures in Python. Include a script that can take in a PCAP argument, and will display info about all DNS packets parsed to the terminal.” </a:t>
            </a:r>
          </a:p>
          <a:p>
            <a:pPr lvl="1"/>
            <a:r>
              <a:rPr lang="en-US" dirty="0"/>
              <a:t>In the chat window, you can see the AI working through the problem step-by-step. You can click on one of the summaries in the chat window to see what the AI is “thinking.” These are the output tokens that the AI is producing on its way to producing code.</a:t>
            </a:r>
          </a:p>
          <a:p>
            <a:pPr lvl="1"/>
            <a:endParaRPr lang="en-US" i="1" dirty="0"/>
          </a:p>
        </p:txBody>
      </p:sp>
      <p:pic>
        <p:nvPicPr>
          <p:cNvPr id="5" name="Picture 4">
            <a:extLst>
              <a:ext uri="{FF2B5EF4-FFF2-40B4-BE49-F238E27FC236}">
                <a16:creationId xmlns:a16="http://schemas.microsoft.com/office/drawing/2014/main" id="{CEA4956D-5ECD-B0CC-6BD1-67D022B5CA18}"/>
              </a:ext>
            </a:extLst>
          </p:cNvPr>
          <p:cNvPicPr>
            <a:picLocks noChangeAspect="1"/>
          </p:cNvPicPr>
          <p:nvPr/>
        </p:nvPicPr>
        <p:blipFill>
          <a:blip r:embed="rId2"/>
          <a:stretch>
            <a:fillRect/>
          </a:stretch>
        </p:blipFill>
        <p:spPr>
          <a:xfrm>
            <a:off x="6993417" y="3901533"/>
            <a:ext cx="4578619" cy="2031433"/>
          </a:xfrm>
          <a:prstGeom prst="rect">
            <a:avLst/>
          </a:prstGeom>
        </p:spPr>
      </p:pic>
      <p:pic>
        <p:nvPicPr>
          <p:cNvPr id="7" name="Picture 6">
            <a:extLst>
              <a:ext uri="{FF2B5EF4-FFF2-40B4-BE49-F238E27FC236}">
                <a16:creationId xmlns:a16="http://schemas.microsoft.com/office/drawing/2014/main" id="{4C45C8EB-B8D1-D5DE-9766-F17B225A88CF}"/>
              </a:ext>
            </a:extLst>
          </p:cNvPr>
          <p:cNvPicPr>
            <a:picLocks noChangeAspect="1"/>
          </p:cNvPicPr>
          <p:nvPr/>
        </p:nvPicPr>
        <p:blipFill>
          <a:blip r:embed="rId3"/>
          <a:stretch>
            <a:fillRect/>
          </a:stretch>
        </p:blipFill>
        <p:spPr>
          <a:xfrm>
            <a:off x="6993418" y="1825625"/>
            <a:ext cx="4574806" cy="1859505"/>
          </a:xfrm>
          <a:prstGeom prst="rect">
            <a:avLst/>
          </a:prstGeom>
        </p:spPr>
      </p:pic>
    </p:spTree>
    <p:extLst>
      <p:ext uri="{BB962C8B-B14F-4D97-AF65-F5344CB8AC3E}">
        <p14:creationId xmlns:p14="http://schemas.microsoft.com/office/powerpoint/2010/main" val="4014954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CB477-2205-2D83-A4B9-D8BEBC55E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758B7-EC7B-78FA-55F7-6ABC46CFBBBB}"/>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605B945E-917E-688B-EFDB-49F80F8B6496}"/>
              </a:ext>
            </a:extLst>
          </p:cNvPr>
          <p:cNvSpPr>
            <a:spLocks noGrp="1"/>
          </p:cNvSpPr>
          <p:nvPr>
            <p:ph idx="1"/>
          </p:nvPr>
        </p:nvSpPr>
        <p:spPr>
          <a:xfrm>
            <a:off x="2892056" y="1825625"/>
            <a:ext cx="8461744" cy="4351338"/>
          </a:xfrm>
        </p:spPr>
        <p:txBody>
          <a:bodyPr>
            <a:normAutofit/>
          </a:bodyPr>
          <a:lstStyle/>
          <a:p>
            <a:r>
              <a:rPr lang="en-US" dirty="0"/>
              <a:t>On the left, you can see the project’s files being filled in to whatever structure the AI decided on.</a:t>
            </a:r>
          </a:p>
          <a:p>
            <a:r>
              <a:rPr lang="en-US" dirty="0"/>
              <a:t>You can see lines of code being added in the chat window too.</a:t>
            </a:r>
          </a:p>
        </p:txBody>
      </p:sp>
      <p:pic>
        <p:nvPicPr>
          <p:cNvPr id="5" name="Picture 4">
            <a:extLst>
              <a:ext uri="{FF2B5EF4-FFF2-40B4-BE49-F238E27FC236}">
                <a16:creationId xmlns:a16="http://schemas.microsoft.com/office/drawing/2014/main" id="{E59EA6F7-100D-4365-B302-A688E4233C1A}"/>
              </a:ext>
            </a:extLst>
          </p:cNvPr>
          <p:cNvPicPr>
            <a:picLocks noChangeAspect="1"/>
          </p:cNvPicPr>
          <p:nvPr/>
        </p:nvPicPr>
        <p:blipFill>
          <a:blip r:embed="rId2"/>
          <a:stretch>
            <a:fillRect/>
          </a:stretch>
        </p:blipFill>
        <p:spPr>
          <a:xfrm>
            <a:off x="838200" y="1690688"/>
            <a:ext cx="1917700" cy="4038600"/>
          </a:xfrm>
          <a:prstGeom prst="rect">
            <a:avLst/>
          </a:prstGeom>
        </p:spPr>
      </p:pic>
      <p:pic>
        <p:nvPicPr>
          <p:cNvPr id="7" name="Picture 6">
            <a:extLst>
              <a:ext uri="{FF2B5EF4-FFF2-40B4-BE49-F238E27FC236}">
                <a16:creationId xmlns:a16="http://schemas.microsoft.com/office/drawing/2014/main" id="{E66FEA45-D91F-D533-0BF7-AB6130FA2609}"/>
              </a:ext>
            </a:extLst>
          </p:cNvPr>
          <p:cNvPicPr>
            <a:picLocks noChangeAspect="1"/>
          </p:cNvPicPr>
          <p:nvPr/>
        </p:nvPicPr>
        <p:blipFill>
          <a:blip r:embed="rId3"/>
          <a:stretch>
            <a:fillRect/>
          </a:stretch>
        </p:blipFill>
        <p:spPr>
          <a:xfrm>
            <a:off x="5656225" y="3430145"/>
            <a:ext cx="5346700" cy="2933700"/>
          </a:xfrm>
          <a:prstGeom prst="rect">
            <a:avLst/>
          </a:prstGeom>
        </p:spPr>
      </p:pic>
    </p:spTree>
    <p:extLst>
      <p:ext uri="{BB962C8B-B14F-4D97-AF65-F5344CB8AC3E}">
        <p14:creationId xmlns:p14="http://schemas.microsoft.com/office/powerpoint/2010/main" val="3842910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20AF-8DB7-93AC-05D9-DCB47AA8B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C3319-5146-D28E-07A9-854319B4F999}"/>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645E619D-9970-0878-B024-383AADEFDE94}"/>
              </a:ext>
            </a:extLst>
          </p:cNvPr>
          <p:cNvSpPr>
            <a:spLocks noGrp="1"/>
          </p:cNvSpPr>
          <p:nvPr>
            <p:ph idx="1"/>
          </p:nvPr>
        </p:nvSpPr>
        <p:spPr/>
        <p:txBody>
          <a:bodyPr>
            <a:normAutofit/>
          </a:bodyPr>
          <a:lstStyle/>
          <a:p>
            <a:r>
              <a:rPr lang="en-US" dirty="0"/>
              <a:t>The AI needs </a:t>
            </a:r>
            <a:r>
              <a:rPr lang="en-US" b="1" dirty="0"/>
              <a:t>permission</a:t>
            </a:r>
            <a:r>
              <a:rPr lang="en-US" dirty="0"/>
              <a:t> to do things: perform web searches, write files, etc. </a:t>
            </a:r>
          </a:p>
          <a:p>
            <a:pPr lvl="1"/>
            <a:r>
              <a:rPr lang="en-US" dirty="0"/>
              <a:t>Discussion on allowlists, safety, etc.</a:t>
            </a:r>
          </a:p>
          <a:p>
            <a:pPr lvl="1"/>
            <a:r>
              <a:rPr lang="en-US" dirty="0"/>
              <a:t>How could this be abused? What sort of policy should you use to allow some things but not others? Best practices?</a:t>
            </a:r>
          </a:p>
        </p:txBody>
      </p:sp>
      <p:pic>
        <p:nvPicPr>
          <p:cNvPr id="5" name="Picture 4">
            <a:extLst>
              <a:ext uri="{FF2B5EF4-FFF2-40B4-BE49-F238E27FC236}">
                <a16:creationId xmlns:a16="http://schemas.microsoft.com/office/drawing/2014/main" id="{365FB2AA-0369-E9DC-C62B-07D27A10DD09}"/>
              </a:ext>
            </a:extLst>
          </p:cNvPr>
          <p:cNvPicPr>
            <a:picLocks noChangeAspect="1"/>
          </p:cNvPicPr>
          <p:nvPr/>
        </p:nvPicPr>
        <p:blipFill>
          <a:blip r:embed="rId2"/>
          <a:stretch>
            <a:fillRect/>
          </a:stretch>
        </p:blipFill>
        <p:spPr>
          <a:xfrm>
            <a:off x="2997200" y="4255977"/>
            <a:ext cx="5283200" cy="1727200"/>
          </a:xfrm>
          <a:prstGeom prst="rect">
            <a:avLst/>
          </a:prstGeom>
        </p:spPr>
      </p:pic>
    </p:spTree>
    <p:extLst>
      <p:ext uri="{BB962C8B-B14F-4D97-AF65-F5344CB8AC3E}">
        <p14:creationId xmlns:p14="http://schemas.microsoft.com/office/powerpoint/2010/main" val="2391541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FD133-BB43-E3F3-578A-A0A78487F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97DA2-E159-631F-B6C1-FECBD83F2FAA}"/>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ABE89A14-EAC8-48D5-FEE7-4A75CD99286F}"/>
              </a:ext>
            </a:extLst>
          </p:cNvPr>
          <p:cNvSpPr>
            <a:spLocks noGrp="1"/>
          </p:cNvSpPr>
          <p:nvPr>
            <p:ph idx="1"/>
          </p:nvPr>
        </p:nvSpPr>
        <p:spPr>
          <a:xfrm>
            <a:off x="838200" y="1825625"/>
            <a:ext cx="5339316" cy="4351338"/>
          </a:xfrm>
        </p:spPr>
        <p:txBody>
          <a:bodyPr>
            <a:normAutofit/>
          </a:bodyPr>
          <a:lstStyle/>
          <a:p>
            <a:r>
              <a:rPr lang="en-US" dirty="0"/>
              <a:t>Wait for the AI to finish. It will look something like this when done.</a:t>
            </a:r>
          </a:p>
        </p:txBody>
      </p:sp>
      <p:pic>
        <p:nvPicPr>
          <p:cNvPr id="5" name="Picture 4">
            <a:extLst>
              <a:ext uri="{FF2B5EF4-FFF2-40B4-BE49-F238E27FC236}">
                <a16:creationId xmlns:a16="http://schemas.microsoft.com/office/drawing/2014/main" id="{E2BCEEA1-A04F-FDE4-39C6-B12499CEEE78}"/>
              </a:ext>
            </a:extLst>
          </p:cNvPr>
          <p:cNvPicPr>
            <a:picLocks noChangeAspect="1"/>
          </p:cNvPicPr>
          <p:nvPr/>
        </p:nvPicPr>
        <p:blipFill>
          <a:blip r:embed="rId2"/>
          <a:stretch>
            <a:fillRect/>
          </a:stretch>
        </p:blipFill>
        <p:spPr>
          <a:xfrm>
            <a:off x="6238490" y="1350333"/>
            <a:ext cx="5115310" cy="5305647"/>
          </a:xfrm>
          <a:prstGeom prst="rect">
            <a:avLst/>
          </a:prstGeom>
        </p:spPr>
      </p:pic>
      <p:pic>
        <p:nvPicPr>
          <p:cNvPr id="6" name="Picture 5">
            <a:extLst>
              <a:ext uri="{FF2B5EF4-FFF2-40B4-BE49-F238E27FC236}">
                <a16:creationId xmlns:a16="http://schemas.microsoft.com/office/drawing/2014/main" id="{9F6C578C-1915-6EA4-E2B3-C6DCA2C274B6}"/>
              </a:ext>
            </a:extLst>
          </p:cNvPr>
          <p:cNvPicPr>
            <a:picLocks noChangeAspect="1"/>
          </p:cNvPicPr>
          <p:nvPr/>
        </p:nvPicPr>
        <p:blipFill>
          <a:blip r:embed="rId3"/>
          <a:stretch>
            <a:fillRect/>
          </a:stretch>
        </p:blipFill>
        <p:spPr>
          <a:xfrm>
            <a:off x="2207142" y="2926537"/>
            <a:ext cx="3566338" cy="3566338"/>
          </a:xfrm>
          <a:prstGeom prst="rect">
            <a:avLst/>
          </a:prstGeom>
        </p:spPr>
      </p:pic>
    </p:spTree>
    <p:extLst>
      <p:ext uri="{BB962C8B-B14F-4D97-AF65-F5344CB8AC3E}">
        <p14:creationId xmlns:p14="http://schemas.microsoft.com/office/powerpoint/2010/main" val="2597335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4920E-A695-C525-A936-69F45D017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B13F0-74CE-FC57-DC1C-2FB8CDB2795C}"/>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1F581CF9-A25B-6398-033A-8B8AB4A852D9}"/>
              </a:ext>
            </a:extLst>
          </p:cNvPr>
          <p:cNvSpPr>
            <a:spLocks noGrp="1"/>
          </p:cNvSpPr>
          <p:nvPr>
            <p:ph idx="1"/>
          </p:nvPr>
        </p:nvSpPr>
        <p:spPr/>
        <p:txBody>
          <a:bodyPr>
            <a:normAutofit/>
          </a:bodyPr>
          <a:lstStyle/>
          <a:p>
            <a:r>
              <a:rPr lang="en-US" b="1" dirty="0"/>
              <a:t>Step 3: </a:t>
            </a:r>
            <a:r>
              <a:rPr lang="en-US" dirty="0"/>
              <a:t>Review what happened.</a:t>
            </a:r>
          </a:p>
          <a:p>
            <a:pPr lvl="1"/>
            <a:r>
              <a:rPr lang="en-US" dirty="0"/>
              <a:t>The AI will output a summary into the chat window at the end of what it did. </a:t>
            </a:r>
          </a:p>
          <a:p>
            <a:pPr lvl="1"/>
            <a:r>
              <a:rPr lang="en-US" dirty="0"/>
              <a:t>You can review the full set of changes (in this case, whole files) the AI wrote by expanding the bottom right. You can click through them to review and accept/reject each change. </a:t>
            </a:r>
          </a:p>
          <a:p>
            <a:pPr lvl="1"/>
            <a:r>
              <a:rPr lang="en-US" dirty="0"/>
              <a:t>Does it look good?</a:t>
            </a:r>
          </a:p>
        </p:txBody>
      </p:sp>
      <p:pic>
        <p:nvPicPr>
          <p:cNvPr id="5" name="Picture 4">
            <a:extLst>
              <a:ext uri="{FF2B5EF4-FFF2-40B4-BE49-F238E27FC236}">
                <a16:creationId xmlns:a16="http://schemas.microsoft.com/office/drawing/2014/main" id="{8BBBBA64-1A5B-1FB4-57FF-D1768C80EBD2}"/>
              </a:ext>
            </a:extLst>
          </p:cNvPr>
          <p:cNvPicPr>
            <a:picLocks noChangeAspect="1"/>
          </p:cNvPicPr>
          <p:nvPr/>
        </p:nvPicPr>
        <p:blipFill>
          <a:blip r:embed="rId2"/>
          <a:stretch>
            <a:fillRect/>
          </a:stretch>
        </p:blipFill>
        <p:spPr>
          <a:xfrm>
            <a:off x="6732439" y="3727322"/>
            <a:ext cx="4933877" cy="2857683"/>
          </a:xfrm>
          <a:prstGeom prst="rect">
            <a:avLst/>
          </a:prstGeom>
        </p:spPr>
      </p:pic>
      <p:pic>
        <p:nvPicPr>
          <p:cNvPr id="7" name="Picture 6">
            <a:extLst>
              <a:ext uri="{FF2B5EF4-FFF2-40B4-BE49-F238E27FC236}">
                <a16:creationId xmlns:a16="http://schemas.microsoft.com/office/drawing/2014/main" id="{8909A37C-DAA6-5076-A332-BE4CD3FFB4DD}"/>
              </a:ext>
            </a:extLst>
          </p:cNvPr>
          <p:cNvPicPr>
            <a:picLocks noChangeAspect="1"/>
          </p:cNvPicPr>
          <p:nvPr/>
        </p:nvPicPr>
        <p:blipFill>
          <a:blip r:embed="rId3"/>
          <a:stretch>
            <a:fillRect/>
          </a:stretch>
        </p:blipFill>
        <p:spPr>
          <a:xfrm>
            <a:off x="1187523" y="4743505"/>
            <a:ext cx="5232400" cy="1841500"/>
          </a:xfrm>
          <a:prstGeom prst="rect">
            <a:avLst/>
          </a:prstGeom>
        </p:spPr>
      </p:pic>
    </p:spTree>
    <p:extLst>
      <p:ext uri="{BB962C8B-B14F-4D97-AF65-F5344CB8AC3E}">
        <p14:creationId xmlns:p14="http://schemas.microsoft.com/office/powerpoint/2010/main" val="3499252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4C9D1-5F4D-A5D7-322C-597704BA5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E5AB0-159F-CEF5-7166-ACE23FC155F4}"/>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847583E2-E379-E0E7-9DA0-CAF763999688}"/>
              </a:ext>
            </a:extLst>
          </p:cNvPr>
          <p:cNvSpPr>
            <a:spLocks noGrp="1"/>
          </p:cNvSpPr>
          <p:nvPr>
            <p:ph idx="1"/>
          </p:nvPr>
        </p:nvSpPr>
        <p:spPr/>
        <p:txBody>
          <a:bodyPr>
            <a:normAutofit/>
          </a:bodyPr>
          <a:lstStyle/>
          <a:p>
            <a:r>
              <a:rPr lang="en-US" b="1" dirty="0"/>
              <a:t>Step 4: </a:t>
            </a:r>
            <a:r>
              <a:rPr lang="en-US" dirty="0"/>
              <a:t>Run it. Does it seem to work?</a:t>
            </a:r>
          </a:p>
          <a:p>
            <a:pPr lvl="1"/>
            <a:r>
              <a:rPr lang="en-US" dirty="0"/>
              <a:t>Some AI runs may have automatically produced their own tests. Should we trust those?</a:t>
            </a:r>
          </a:p>
          <a:p>
            <a:pPr lvl="1"/>
            <a:r>
              <a:rPr lang="en-US" dirty="0"/>
              <a:t>You can grab a test file with DNS traffic here: </a:t>
            </a:r>
            <a:r>
              <a:rPr lang="en-US" dirty="0">
                <a:hlinkClick r:id="rId2"/>
              </a:rPr>
              <a:t>http://wiki.wireshark.org/samplecaptures</a:t>
            </a:r>
            <a:endParaRPr lang="en-US" dirty="0"/>
          </a:p>
          <a:p>
            <a:pPr marL="457200" lvl="1" indent="0">
              <a:buNone/>
            </a:pPr>
            <a:endParaRPr lang="en-US" dirty="0"/>
          </a:p>
        </p:txBody>
      </p:sp>
      <p:pic>
        <p:nvPicPr>
          <p:cNvPr id="7" name="Picture 6">
            <a:extLst>
              <a:ext uri="{FF2B5EF4-FFF2-40B4-BE49-F238E27FC236}">
                <a16:creationId xmlns:a16="http://schemas.microsoft.com/office/drawing/2014/main" id="{5F4E73F4-EEDB-AB18-5554-9FA72D1E866C}"/>
              </a:ext>
            </a:extLst>
          </p:cNvPr>
          <p:cNvPicPr>
            <a:picLocks noChangeAspect="1"/>
          </p:cNvPicPr>
          <p:nvPr/>
        </p:nvPicPr>
        <p:blipFill>
          <a:blip r:embed="rId3"/>
          <a:stretch>
            <a:fillRect/>
          </a:stretch>
        </p:blipFill>
        <p:spPr>
          <a:xfrm>
            <a:off x="2998972" y="3803931"/>
            <a:ext cx="5166833" cy="2910978"/>
          </a:xfrm>
          <a:prstGeom prst="rect">
            <a:avLst/>
          </a:prstGeom>
        </p:spPr>
      </p:pic>
    </p:spTree>
    <p:extLst>
      <p:ext uri="{BB962C8B-B14F-4D97-AF65-F5344CB8AC3E}">
        <p14:creationId xmlns:p14="http://schemas.microsoft.com/office/powerpoint/2010/main" val="4121594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57C20-8C24-02D6-9474-108CCF912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77DD3-3F15-9D0F-E465-F4B4B5594CF9}"/>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3EAFF117-5DA2-C967-B6D4-7142DFD9FE66}"/>
              </a:ext>
            </a:extLst>
          </p:cNvPr>
          <p:cNvSpPr>
            <a:spLocks noGrp="1"/>
          </p:cNvSpPr>
          <p:nvPr>
            <p:ph idx="1"/>
          </p:nvPr>
        </p:nvSpPr>
        <p:spPr/>
        <p:txBody>
          <a:bodyPr>
            <a:normAutofit/>
          </a:bodyPr>
          <a:lstStyle/>
          <a:p>
            <a:r>
              <a:rPr lang="en-US" b="1" dirty="0"/>
              <a:t>Step 5 (optional): </a:t>
            </a:r>
            <a:r>
              <a:rPr lang="en-US" dirty="0"/>
              <a:t>Debug problems</a:t>
            </a:r>
          </a:p>
          <a:p>
            <a:pPr lvl="1"/>
            <a:r>
              <a:rPr lang="en-US" dirty="0"/>
              <a:t>If needed, ask the AI to fix any problems you find (output wrong, crash, etc.) You can often paste the error directly into the chat to get it started.</a:t>
            </a:r>
          </a:p>
          <a:p>
            <a:pPr lvl="1"/>
            <a:r>
              <a:rPr lang="en-US" dirty="0"/>
              <a:t>The first time I ran this tutorial, it failed the first test and needed fixes. The second time it worked right away. Shrug</a:t>
            </a:r>
          </a:p>
          <a:p>
            <a:pPr marL="457200" lvl="1" indent="0">
              <a:buNone/>
            </a:pPr>
            <a:endParaRPr lang="en-US" dirty="0"/>
          </a:p>
        </p:txBody>
      </p:sp>
    </p:spTree>
    <p:extLst>
      <p:ext uri="{BB962C8B-B14F-4D97-AF65-F5344CB8AC3E}">
        <p14:creationId xmlns:p14="http://schemas.microsoft.com/office/powerpoint/2010/main" val="3739072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D587E-F853-1C62-F8C7-BC110200B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62D2C-DADF-C82C-35F6-C87EB7172196}"/>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6185E691-D1B1-71CB-3F8A-101626BB5442}"/>
              </a:ext>
            </a:extLst>
          </p:cNvPr>
          <p:cNvSpPr>
            <a:spLocks noGrp="1"/>
          </p:cNvSpPr>
          <p:nvPr>
            <p:ph idx="1"/>
          </p:nvPr>
        </p:nvSpPr>
        <p:spPr/>
        <p:txBody>
          <a:bodyPr>
            <a:normAutofit/>
          </a:bodyPr>
          <a:lstStyle/>
          <a:p>
            <a:r>
              <a:rPr lang="en-US" b="1" dirty="0"/>
              <a:t>Step 6: </a:t>
            </a:r>
            <a:r>
              <a:rPr lang="en-US" dirty="0"/>
              <a:t>Add cool visualization feature!</a:t>
            </a:r>
          </a:p>
          <a:p>
            <a:pPr lvl="1"/>
            <a:r>
              <a:rPr lang="en-US" i="1" dirty="0"/>
              <a:t>“Add a new option to the script that can produce a visualization from the provided capture.”</a:t>
            </a:r>
          </a:p>
          <a:p>
            <a:pPr lvl="1"/>
            <a:endParaRPr lang="en-US" i="1" dirty="0"/>
          </a:p>
        </p:txBody>
      </p:sp>
      <p:pic>
        <p:nvPicPr>
          <p:cNvPr id="5" name="Picture 4">
            <a:extLst>
              <a:ext uri="{FF2B5EF4-FFF2-40B4-BE49-F238E27FC236}">
                <a16:creationId xmlns:a16="http://schemas.microsoft.com/office/drawing/2014/main" id="{6433489B-8D10-3AB9-C818-55DC7B83BABD}"/>
              </a:ext>
            </a:extLst>
          </p:cNvPr>
          <p:cNvPicPr>
            <a:picLocks noChangeAspect="1"/>
          </p:cNvPicPr>
          <p:nvPr/>
        </p:nvPicPr>
        <p:blipFill>
          <a:blip r:embed="rId2"/>
          <a:stretch>
            <a:fillRect/>
          </a:stretch>
        </p:blipFill>
        <p:spPr>
          <a:xfrm>
            <a:off x="3288857" y="3786963"/>
            <a:ext cx="5422900" cy="1219200"/>
          </a:xfrm>
          <a:prstGeom prst="rect">
            <a:avLst/>
          </a:prstGeom>
        </p:spPr>
      </p:pic>
    </p:spTree>
    <p:extLst>
      <p:ext uri="{BB962C8B-B14F-4D97-AF65-F5344CB8AC3E}">
        <p14:creationId xmlns:p14="http://schemas.microsoft.com/office/powerpoint/2010/main" val="890668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A2956-49B8-EAEE-2796-3E600DBF1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A79CC-5B45-CFBB-B21E-D0CC00398A62}"/>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326F9BDD-7236-A73E-14C3-5697FB6CF5CD}"/>
              </a:ext>
            </a:extLst>
          </p:cNvPr>
          <p:cNvSpPr>
            <a:spLocks noGrp="1"/>
          </p:cNvSpPr>
          <p:nvPr>
            <p:ph idx="1"/>
          </p:nvPr>
        </p:nvSpPr>
        <p:spPr/>
        <p:txBody>
          <a:bodyPr>
            <a:normAutofit/>
          </a:bodyPr>
          <a:lstStyle/>
          <a:p>
            <a:r>
              <a:rPr lang="en-US" dirty="0"/>
              <a:t>Sometimes the AI might ask you a question.</a:t>
            </a:r>
          </a:p>
          <a:p>
            <a:r>
              <a:rPr lang="en-US" dirty="0"/>
              <a:t>You can just click the multiple choice answer you like best, or give it your own custom answer.</a:t>
            </a:r>
          </a:p>
        </p:txBody>
      </p:sp>
      <p:pic>
        <p:nvPicPr>
          <p:cNvPr id="5" name="Picture 4">
            <a:extLst>
              <a:ext uri="{FF2B5EF4-FFF2-40B4-BE49-F238E27FC236}">
                <a16:creationId xmlns:a16="http://schemas.microsoft.com/office/drawing/2014/main" id="{6261792A-CFF6-F583-578A-2D65B9B4E14C}"/>
              </a:ext>
            </a:extLst>
          </p:cNvPr>
          <p:cNvPicPr>
            <a:picLocks noChangeAspect="1"/>
          </p:cNvPicPr>
          <p:nvPr/>
        </p:nvPicPr>
        <p:blipFill>
          <a:blip r:embed="rId2"/>
          <a:stretch>
            <a:fillRect/>
          </a:stretch>
        </p:blipFill>
        <p:spPr>
          <a:xfrm>
            <a:off x="3073695" y="3484563"/>
            <a:ext cx="5257800" cy="2692400"/>
          </a:xfrm>
          <a:prstGeom prst="rect">
            <a:avLst/>
          </a:prstGeom>
        </p:spPr>
      </p:pic>
    </p:spTree>
    <p:extLst>
      <p:ext uri="{BB962C8B-B14F-4D97-AF65-F5344CB8AC3E}">
        <p14:creationId xmlns:p14="http://schemas.microsoft.com/office/powerpoint/2010/main" val="2231234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2027-C8C6-15BB-3AE5-047FEE98F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AD02A0-731F-2E52-4118-6ADD0A7CB53E}"/>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257DC2C7-CED2-7309-47A1-97D1F7C35634}"/>
              </a:ext>
            </a:extLst>
          </p:cNvPr>
          <p:cNvSpPr>
            <a:spLocks noGrp="1"/>
          </p:cNvSpPr>
          <p:nvPr>
            <p:ph idx="1"/>
          </p:nvPr>
        </p:nvSpPr>
        <p:spPr/>
        <p:txBody>
          <a:bodyPr>
            <a:normAutofit/>
          </a:bodyPr>
          <a:lstStyle/>
          <a:p>
            <a:r>
              <a:rPr lang="en-US" dirty="0"/>
              <a:t>Then try out </a:t>
            </a:r>
          </a:p>
          <a:p>
            <a:pPr marL="0" indent="0">
              <a:buNone/>
            </a:pPr>
            <a:r>
              <a:rPr lang="en-US" dirty="0"/>
              <a:t>the visualization:</a:t>
            </a:r>
          </a:p>
        </p:txBody>
      </p:sp>
      <p:pic>
        <p:nvPicPr>
          <p:cNvPr id="5" name="Picture 4">
            <a:extLst>
              <a:ext uri="{FF2B5EF4-FFF2-40B4-BE49-F238E27FC236}">
                <a16:creationId xmlns:a16="http://schemas.microsoft.com/office/drawing/2014/main" id="{9FD50DBA-B4B2-DE8C-D88B-EA0A854F882C}"/>
              </a:ext>
            </a:extLst>
          </p:cNvPr>
          <p:cNvPicPr>
            <a:picLocks noChangeAspect="1"/>
          </p:cNvPicPr>
          <p:nvPr/>
        </p:nvPicPr>
        <p:blipFill>
          <a:blip r:embed="rId2"/>
          <a:stretch>
            <a:fillRect/>
          </a:stretch>
        </p:blipFill>
        <p:spPr>
          <a:xfrm>
            <a:off x="4059865" y="1825625"/>
            <a:ext cx="7772400" cy="4142255"/>
          </a:xfrm>
          <a:prstGeom prst="rect">
            <a:avLst/>
          </a:prstGeom>
          <a:ln w="25400">
            <a:solidFill>
              <a:schemeClr val="tx1"/>
            </a:solidFill>
          </a:ln>
        </p:spPr>
      </p:pic>
    </p:spTree>
    <p:extLst>
      <p:ext uri="{BB962C8B-B14F-4D97-AF65-F5344CB8AC3E}">
        <p14:creationId xmlns:p14="http://schemas.microsoft.com/office/powerpoint/2010/main" val="1277721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A6625-5F87-3CCB-DEE2-50C923CD4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8D122-DC92-71EF-D965-DCCFD34AE1EA}"/>
              </a:ext>
            </a:extLst>
          </p:cNvPr>
          <p:cNvSpPr>
            <a:spLocks noGrp="1"/>
          </p:cNvSpPr>
          <p:nvPr>
            <p:ph type="title"/>
          </p:nvPr>
        </p:nvSpPr>
        <p:spPr/>
        <p:txBody>
          <a:bodyPr/>
          <a:lstStyle/>
          <a:p>
            <a:r>
              <a:rPr lang="en-US" dirty="0"/>
              <a:t>First Exercise: Vibe Coding</a:t>
            </a:r>
          </a:p>
        </p:txBody>
      </p:sp>
      <p:sp>
        <p:nvSpPr>
          <p:cNvPr id="3" name="Content Placeholder 2">
            <a:extLst>
              <a:ext uri="{FF2B5EF4-FFF2-40B4-BE49-F238E27FC236}">
                <a16:creationId xmlns:a16="http://schemas.microsoft.com/office/drawing/2014/main" id="{231316D1-A27D-30AA-7104-E3CC34CA9722}"/>
              </a:ext>
            </a:extLst>
          </p:cNvPr>
          <p:cNvSpPr>
            <a:spLocks noGrp="1"/>
          </p:cNvSpPr>
          <p:nvPr>
            <p:ph idx="1"/>
          </p:nvPr>
        </p:nvSpPr>
        <p:spPr/>
        <p:txBody>
          <a:bodyPr>
            <a:normAutofit/>
          </a:bodyPr>
          <a:lstStyle/>
          <a:p>
            <a:r>
              <a:rPr lang="en-US" dirty="0"/>
              <a:t>This concludes the Vibe Coding exercise. Feel free to play around with Cursor for a bit.  </a:t>
            </a:r>
          </a:p>
          <a:p>
            <a:r>
              <a:rPr lang="en-US" dirty="0"/>
              <a:t>Bonus content if done early</a:t>
            </a:r>
          </a:p>
        </p:txBody>
      </p:sp>
    </p:spTree>
    <p:extLst>
      <p:ext uri="{BB962C8B-B14F-4D97-AF65-F5344CB8AC3E}">
        <p14:creationId xmlns:p14="http://schemas.microsoft.com/office/powerpoint/2010/main" val="830471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581</Words>
  <Application>Microsoft Macintosh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lpstr>First Exercise: Vibe 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Loffredo, Daniel</dc:creator>
  <cp:lastModifiedBy>Loffredo, Daniel</cp:lastModifiedBy>
  <cp:revision>1</cp:revision>
  <dcterms:created xsi:type="dcterms:W3CDTF">2026-05-08T19:24:25Z</dcterms:created>
  <dcterms:modified xsi:type="dcterms:W3CDTF">2026-05-08T19:26:40Z</dcterms:modified>
</cp:coreProperties>
</file>