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93" r:id="rId3"/>
    <p:sldId id="294" r:id="rId4"/>
    <p:sldId id="289" r:id="rId5"/>
    <p:sldId id="304" r:id="rId6"/>
    <p:sldId id="303" r:id="rId7"/>
    <p:sldId id="290" r:id="rId8"/>
    <p:sldId id="295" r:id="rId9"/>
    <p:sldId id="297" r:id="rId10"/>
    <p:sldId id="291" r:id="rId11"/>
    <p:sldId id="292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87D4-43EA-5B14-6782-C9DD36EFF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8C6E7-8ACD-6524-CA43-97601E204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466BD-9941-377C-60DA-AF2D6531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7A5B2-87D8-3D52-DFAE-32025043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E5248-9FC5-929A-9CD2-322076C1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BD26-64B3-D97B-DD55-A032C720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4AA49-E4C3-CE07-8F98-D33BC4A3C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325E4-F550-FC0E-574B-10E58BA1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1A1D-866D-24F5-C4B0-E25DEE62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5AB93-B1BB-710E-02CA-28F47E7C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9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6B39-E20C-0F5B-1E1C-D24503C0F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09BF4-1CED-7293-D3AC-711D61087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C2062-2E78-1B81-49A8-5D80FB59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2BF65-6D43-860A-B473-BC4EEEAF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130C0-2B60-CB78-AFD9-6A933563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0081-B21E-9892-3D8B-A6724005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45D00-8391-C101-272E-4E9089EDF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A0998-6C7F-2567-1EEC-4EC569BA1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A18B8-DFE2-12C5-7E48-73AC7E39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57617-AB98-92EA-FE59-50105102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502B6-E756-D358-79B4-CCF314E9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5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254D-EDE3-48AE-09E2-09F275AC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95791-6D63-CC6E-7835-2DA79D304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890B9-BA5C-08B4-F073-326AB1DA2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C7524-34DE-0F44-8CDE-A977CBD6A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F6CDC-00D8-A1D0-79EE-4B017EF79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69514-33A4-1563-3564-DAC2393AC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87709-0093-9DCD-7F52-94A04585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C478D-4C70-131C-E81D-F81C99AC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43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9EEB-1DBF-02F3-64CE-B956D59D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C6BF4-D85E-1E00-91C6-B5DB2931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6A9DD-848B-2213-6F19-D20406C9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14671-E625-48F7-C095-931A695E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4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1158B-7C00-4862-7A65-ED659D4B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526DA-963D-5847-B03D-4F03E0FA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0F4C5-5D37-ED8E-7D16-EB307508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0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25B8-C65D-3825-9C32-EBBBE2B1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7B49-4897-76DE-D82E-718E4E89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F5310-3816-49CD-E2DE-C207E2E18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4585B-C60E-353D-1C7F-38F310F3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44311-3AAC-3C47-79BE-A6749AC0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D5BF9-2D97-7D27-A616-5B134A38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478C-ABF8-CA67-3E80-FE3304CA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9FF5C-9F93-2FBF-46CA-681FBB477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5A797-652B-C690-48CF-158B2D785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1D750-FAA0-8F13-9029-245E6BDE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EF376-B5CB-264F-F21E-3AF1C772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11D03-B3A6-65ED-3DC9-CE9A9041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1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B93E-8108-E47D-352D-19C34188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0DA9F-73DC-C204-F58A-99E9BF534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66B8A-39CB-ADC5-509A-DEE58349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91A5-D009-C8D1-0201-26A7F26A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2DAC-525C-ED1F-A622-27BD5AF4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2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EE1F4-5F9D-FB41-6CEE-FB63B453C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66C45-29D4-D70D-8B3B-616A9C1E1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51E86-825E-4FC7-FB67-4B936B4B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8027-DE3C-DD42-BFD6-04B50034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19AB-B057-1E08-CC79-1CD56011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6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4A921-2946-6A94-F59A-151A01BB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A1D70-CC8D-7993-D539-C65CE3D36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05B3D-08AB-B86D-58C8-C7FBAC114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1BC8B-E67A-9F4C-B262-F92D8E43C6D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1239C-7194-698C-34CE-48C2399BB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16836-C166-5AF4-023B-53A54CBC3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57C3-B720-E645-814C-EEAD9799F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3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ursor.com/docs/ru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0B031-C7DB-EF5D-EE75-1F8989C5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3171-E966-35A0-551D-3DBA10CA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250FA-3301-6159-E857-411394125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tried vibe coding. Now let’s take back control.</a:t>
            </a:r>
          </a:p>
          <a:p>
            <a:r>
              <a:rPr lang="en-US" dirty="0"/>
              <a:t>In this exercise, we will be using Cursor to help us code again, but the project will be larger and we will try three different techniques: </a:t>
            </a:r>
            <a:r>
              <a:rPr lang="en-US" b="1" dirty="0"/>
              <a:t>Planning, Incremental Improvement, </a:t>
            </a:r>
            <a:r>
              <a:rPr lang="en-US" dirty="0"/>
              <a:t>and </a:t>
            </a:r>
            <a:r>
              <a:rPr lang="en-US" b="1" dirty="0"/>
              <a:t>Managing</a:t>
            </a:r>
          </a:p>
          <a:p>
            <a:r>
              <a:rPr lang="en-US" dirty="0"/>
              <a:t>The project these slides are working on is: </a:t>
            </a:r>
            <a:r>
              <a:rPr lang="en-US" i="1" dirty="0"/>
              <a:t>building an interactive call graph visualizer for x86 binaries</a:t>
            </a:r>
          </a:p>
          <a:p>
            <a:r>
              <a:rPr lang="en-US" dirty="0"/>
              <a:t>You can follow along with that goal, or create your own if you wish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04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DC80-3614-B76C-1686-D292FDC1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77B0-3AE6-416A-4AB4-27C8F491C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D8C3-58BE-806F-741D-A8CA8869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Technique 1: Planning</a:t>
            </a:r>
          </a:p>
          <a:p>
            <a:pPr lvl="1"/>
            <a:r>
              <a:rPr lang="en-US" dirty="0"/>
              <a:t>Planning helps the agent do more complicated tasks, with a more well-specified goal for each step. It also allows you to see what design decisions the AI is making and approve or correct them as needed.</a:t>
            </a:r>
          </a:p>
          <a:p>
            <a:pPr lvl="1"/>
            <a:r>
              <a:rPr lang="en-US" dirty="0"/>
              <a:t>In the bottom left of the chat window, you can change your chat session type to “Agent” or “Plan” or “Ask”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F7E2A-4091-6A28-9B9D-8CF8D90D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766" y="4206875"/>
            <a:ext cx="69977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5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74E35-21AC-6B8A-9585-D6CBE6D9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D8F8-C0E6-A99D-890E-8A0DEB52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3BE8F-4F5E-4262-13D7-0009824D7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Technique 1: Planning</a:t>
            </a:r>
          </a:p>
          <a:p>
            <a:pPr lvl="1"/>
            <a:r>
              <a:rPr lang="en-US" b="1"/>
              <a:t>Agent: </a:t>
            </a:r>
            <a:r>
              <a:rPr lang="en-US"/>
              <a:t>this mode is the default that we used earlier, it can do basic coding tasks.</a:t>
            </a:r>
          </a:p>
          <a:p>
            <a:pPr lvl="1"/>
            <a:r>
              <a:rPr lang="en-US" b="1"/>
              <a:t>Ask: </a:t>
            </a:r>
            <a:r>
              <a:rPr lang="en-US"/>
              <a:t>this mode is for asking questions when you DON’T want the AI to write code. You can ask about the code base, ask it for ideas, etc.</a:t>
            </a:r>
          </a:p>
          <a:p>
            <a:pPr lvl="1"/>
            <a:r>
              <a:rPr lang="en-US" b="1"/>
              <a:t>Plan: </a:t>
            </a:r>
            <a:r>
              <a:rPr lang="en-US"/>
              <a:t>this mode is for larger, more complicated coding tasks. Before writing any code, this mode will create a plan document that is essentially a series of prompts that the agent will use to break down and accomplish larger coding tasks.  </a:t>
            </a:r>
          </a:p>
        </p:txBody>
      </p:sp>
    </p:spTree>
    <p:extLst>
      <p:ext uri="{BB962C8B-B14F-4D97-AF65-F5344CB8AC3E}">
        <p14:creationId xmlns:p14="http://schemas.microsoft.com/office/powerpoint/2010/main" val="390992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5305-6AB7-06D2-4D50-045C417C1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6599-99EA-10E6-1961-99B66F5F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C218F-2CD5-5818-FEDB-45FB4A01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9443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Technique 1: Planning</a:t>
            </a:r>
          </a:p>
          <a:p>
            <a:pPr lvl="1"/>
            <a:r>
              <a:rPr lang="en-US" i="1" dirty="0"/>
              <a:t>(Optional) </a:t>
            </a:r>
            <a:r>
              <a:rPr lang="en-US" dirty="0"/>
              <a:t>You can also try co-designing your software’s MVP with a different AI, like through ChatGPT. Almost any AI can be helpful to help synthesize a design document and help find holes and problems and solutions. </a:t>
            </a:r>
          </a:p>
          <a:p>
            <a:pPr lvl="1"/>
            <a:r>
              <a:rPr lang="en-US" b="1" dirty="0"/>
              <a:t>MVP: Minimum Viable Product. </a:t>
            </a:r>
            <a:r>
              <a:rPr lang="en-US" dirty="0"/>
              <a:t>What is the smallest subset of your intended program that you can build to have something that runs and can be tested/used? </a:t>
            </a:r>
          </a:p>
        </p:txBody>
      </p:sp>
    </p:spTree>
    <p:extLst>
      <p:ext uri="{BB962C8B-B14F-4D97-AF65-F5344CB8AC3E}">
        <p14:creationId xmlns:p14="http://schemas.microsoft.com/office/powerpoint/2010/main" val="261237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29C5-3B35-3445-9C63-C2B5706D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6A1F-369A-7770-90D8-5603CC3EC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F63C2-9CAF-305C-AC81-3D0BFCB43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85" y="1690688"/>
            <a:ext cx="7772400" cy="441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1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648D-7CA2-B2CC-A36D-C460550C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257E-2D17-DB09-422C-5A33D8EF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A59E-040F-224A-1D2B-514BEE72A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091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Technique 1: Planning</a:t>
            </a:r>
          </a:p>
          <a:p>
            <a:pPr lvl="1"/>
            <a:r>
              <a:rPr lang="en-US" dirty="0"/>
              <a:t>After submitting a prompt in planning mode, you can view and edit the plan document</a:t>
            </a:r>
          </a:p>
          <a:p>
            <a:pPr lvl="1"/>
            <a:r>
              <a:rPr lang="en-US" dirty="0"/>
              <a:t>When ready, hit “Build”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294B2C-6638-993B-30F1-951F230ED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58" y="3916523"/>
            <a:ext cx="5334000" cy="160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CCEB33-7362-AA1D-138C-AEDEA0EE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033" y="1825625"/>
            <a:ext cx="4718180" cy="452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9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4759-532D-E3FD-F394-C07065D1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BE78-4425-69DF-4598-1BB6F9C5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11E99-388F-C3E5-4533-DD7A923D9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Technique 2: Incremental Improvement</a:t>
            </a:r>
          </a:p>
          <a:p>
            <a:pPr lvl="1"/>
            <a:r>
              <a:rPr lang="en-US" dirty="0"/>
              <a:t>Make incremental changes as small as possible, rather than trying to do the whole thing at once. The smaller and more defined the change – the more likely AI is to succeed.</a:t>
            </a:r>
          </a:p>
          <a:p>
            <a:pPr lvl="1"/>
            <a:r>
              <a:rPr lang="en-US" b="1" dirty="0"/>
              <a:t>Too Big: </a:t>
            </a:r>
            <a:r>
              <a:rPr lang="en-US" dirty="0"/>
              <a:t>"I want the visualizer to be able to zoom in and out and move nodes around."</a:t>
            </a:r>
          </a:p>
          <a:p>
            <a:pPr lvl="2"/>
            <a:r>
              <a:rPr lang="en-US" b="1" dirty="0"/>
              <a:t>OK: </a:t>
            </a:r>
            <a:r>
              <a:rPr lang="en-US" dirty="0"/>
              <a:t>"Add the ability to listen to keyboard input interactively."</a:t>
            </a:r>
          </a:p>
          <a:p>
            <a:pPr lvl="2"/>
            <a:r>
              <a:rPr lang="en-US" b="1" dirty="0"/>
              <a:t>OK: </a:t>
            </a:r>
            <a:r>
              <a:rPr lang="en-US" dirty="0"/>
              <a:t>"When I press z, the visualization should zoom out by 25%.”</a:t>
            </a:r>
          </a:p>
          <a:p>
            <a:pPr lvl="2"/>
            <a:r>
              <a:rPr lang="en-US" b="1" dirty="0"/>
              <a:t>OK: </a:t>
            </a:r>
            <a:r>
              <a:rPr lang="en-US" dirty="0"/>
              <a:t>“Add the ability to listen to mouse input interactively.”</a:t>
            </a:r>
          </a:p>
          <a:p>
            <a:pPr lvl="2"/>
            <a:r>
              <a:rPr lang="en-US" b="1" dirty="0"/>
              <a:t>OK: </a:t>
            </a:r>
            <a:r>
              <a:rPr lang="en-US" dirty="0"/>
              <a:t>“When I click and drag a node, it should move (along with all the edges connected to it)”</a:t>
            </a:r>
          </a:p>
        </p:txBody>
      </p:sp>
    </p:spTree>
    <p:extLst>
      <p:ext uri="{BB962C8B-B14F-4D97-AF65-F5344CB8AC3E}">
        <p14:creationId xmlns:p14="http://schemas.microsoft.com/office/powerpoint/2010/main" val="352829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842CA-F041-3C94-BEC6-C9F91090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18CD-DA25-AFAA-8CCF-4E3749BF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6170-5608-981C-BA54-90D93B0C2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0298" cy="4351338"/>
          </a:xfrm>
        </p:spPr>
        <p:txBody>
          <a:bodyPr>
            <a:normAutofit/>
          </a:bodyPr>
          <a:lstStyle/>
          <a:p>
            <a:r>
              <a:rPr lang="en-US" dirty="0"/>
              <a:t>Technique 2: Incremental Improvement</a:t>
            </a:r>
          </a:p>
          <a:p>
            <a:pPr lvl="1"/>
            <a:r>
              <a:rPr lang="en-US" dirty="0"/>
              <a:t>You can set the specific model used here</a:t>
            </a:r>
          </a:p>
          <a:p>
            <a:pPr lvl="1"/>
            <a:r>
              <a:rPr lang="en-US" dirty="0"/>
              <a:t>The model that gets used and its level of effort is important for determining how good the results you get are</a:t>
            </a:r>
          </a:p>
          <a:p>
            <a:pPr lvl="1"/>
            <a:r>
              <a:rPr lang="en-US" dirty="0"/>
              <a:t>Small, well-specified tasks can be safely given to stupider (cheaper) models</a:t>
            </a:r>
          </a:p>
          <a:p>
            <a:pPr lvl="1"/>
            <a:r>
              <a:rPr lang="en-US" dirty="0"/>
              <a:t>The big important stuff, like coming up with the plan, can benefit greatly from using a better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47AC2-C817-FDCD-2283-C21C69992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768" y="4350739"/>
            <a:ext cx="4599473" cy="224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4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EB9C-2F7F-5413-2884-155FE2C5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2F4B-F15E-AF67-F2DF-D6ABBF2D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2A90-7395-F443-A6C1-85330D7A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 2: Incremental Improvement</a:t>
            </a:r>
          </a:p>
          <a:p>
            <a:pPr lvl="1"/>
            <a:r>
              <a:rPr lang="en-US" dirty="0"/>
              <a:t>Cursor has an autocomplete feature</a:t>
            </a:r>
          </a:p>
          <a:p>
            <a:pPr lvl="1"/>
            <a:r>
              <a:rPr lang="en-US" dirty="0"/>
              <a:t>Useful when you know exactly how to do something, it is a bit tricky, and you want it done right: make the surgical changes yourself</a:t>
            </a:r>
          </a:p>
          <a:p>
            <a:pPr lvl="1"/>
            <a:r>
              <a:rPr lang="en-US" dirty="0"/>
              <a:t>Try writing a comment to describe what you are about to 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37C2E-8785-903C-C00C-728FFBDF4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875" y="3972097"/>
            <a:ext cx="7772400" cy="252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4C51-C36B-BC17-DE79-6E1A3464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6A5F-2F28-B90E-052B-B19C481D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9FE6-E115-1CC1-69EF-E7087810E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164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Technique 3: Managing</a:t>
            </a:r>
          </a:p>
          <a:p>
            <a:pPr lvl="1"/>
            <a:r>
              <a:rPr lang="en-US" dirty="0"/>
              <a:t>The key to good AI coding practices is adopting many of the same good SWE practices that work for managing large software projects</a:t>
            </a:r>
          </a:p>
          <a:p>
            <a:pPr lvl="1"/>
            <a:r>
              <a:rPr lang="en-US" dirty="0"/>
              <a:t>Testing is an important one</a:t>
            </a:r>
          </a:p>
          <a:p>
            <a:pPr lvl="1"/>
            <a:r>
              <a:rPr lang="en-US" dirty="0"/>
              <a:t>If done right and well-specified, the AI can successfully debug problems in a loop on its own. </a:t>
            </a:r>
          </a:p>
          <a:p>
            <a:pPr lvl="1"/>
            <a:r>
              <a:rPr lang="en-US" dirty="0"/>
              <a:t>Be careful: in my experience, the AI decides removing tests is sometimes a good way to get things to pass the tests.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E278E-537D-E46B-6ACF-19B8CB58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133" y="1964451"/>
            <a:ext cx="44069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C748-851C-89CC-712D-D4F43536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B591-22C5-B63B-7684-D990FE5A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957BF-D516-F1E3-4DC8-52A456BD8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2" y="1825625"/>
            <a:ext cx="7061718" cy="4351338"/>
          </a:xfrm>
        </p:spPr>
        <p:txBody>
          <a:bodyPr>
            <a:normAutofit/>
          </a:bodyPr>
          <a:lstStyle/>
          <a:p>
            <a:r>
              <a:rPr lang="en-US" dirty="0"/>
              <a:t>Technique 3: Managing</a:t>
            </a:r>
          </a:p>
          <a:p>
            <a:pPr lvl="1"/>
            <a:r>
              <a:rPr lang="en-US" dirty="0"/>
              <a:t>Cursor has “rules” that allow you to more directly manage the system prompt provided to the AI. See: </a:t>
            </a:r>
            <a:r>
              <a:rPr lang="en-US" dirty="0">
                <a:hlinkClick r:id="rId2"/>
              </a:rPr>
              <a:t>https://cursor.com/docs/rules</a:t>
            </a:r>
            <a:endParaRPr lang="en-US" dirty="0"/>
          </a:p>
          <a:p>
            <a:pPr lvl="1"/>
            <a:r>
              <a:rPr lang="en-US" dirty="0"/>
              <a:t>These rules are useful for project-level directives like formatting or coding style or overall architecture or “make sure you do/don’t do X”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BD5AE-90AA-7FF8-A6D0-B32B6FB98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19" y="1825625"/>
            <a:ext cx="3851863" cy="4540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B0DD3-0448-F61C-3A4A-68EFA99CF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062" y="4429940"/>
            <a:ext cx="5886450" cy="22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9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5567-8114-1E06-32A0-A702CCC4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9B27-04AD-0E61-9CCC-2CFD2874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Exercise: AI-Assisted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16400-1B94-1796-E049-A7ECAD7DC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 3: Managing</a:t>
            </a:r>
          </a:p>
          <a:p>
            <a:pPr lvl="1"/>
            <a:r>
              <a:rPr lang="en-US" dirty="0"/>
              <a:t>You can also more explicitly manage the context window of the AI.</a:t>
            </a:r>
          </a:p>
          <a:p>
            <a:pPr lvl="1"/>
            <a:r>
              <a:rPr lang="en-US" dirty="0"/>
              <a:t>See current context usage </a:t>
            </a:r>
            <a:r>
              <a:rPr lang="en-US" dirty="0">
                <a:sym typeface="Wingdings" pitchFamily="2" charset="2"/>
              </a:rPr>
              <a:t>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Clear context in new chat window 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Add specific </a:t>
            </a:r>
          </a:p>
          <a:p>
            <a:pPr marL="457200" lvl="1" indent="0">
              <a:buNone/>
            </a:pPr>
            <a:r>
              <a:rPr lang="en-US" dirty="0">
                <a:sym typeface="Wingdings" pitchFamily="2" charset="2"/>
              </a:rPr>
              <a:t>context (file, URL,</a:t>
            </a:r>
          </a:p>
          <a:p>
            <a:pPr marL="457200" lvl="1" indent="0">
              <a:buNone/>
            </a:pPr>
            <a:r>
              <a:rPr lang="en-US" dirty="0">
                <a:sym typeface="Wingdings" pitchFamily="2" charset="2"/>
              </a:rPr>
              <a:t>etc.) with @  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E5C2EA-9D5A-6706-77B9-36526B0DE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4001294"/>
            <a:ext cx="2311400" cy="2628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DB889C-3C69-4EE6-A5AF-EC7CE1C0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246" y="2676356"/>
            <a:ext cx="4508500" cy="71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4FCC98-008A-B013-B165-8DDBCA803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560" y="3485187"/>
            <a:ext cx="45339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3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840</Words>
  <Application>Microsoft Macintosh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  <vt:lpstr>Second Exercise: AI-Assisted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Loffredo, Daniel</dc:creator>
  <cp:lastModifiedBy>Loffredo, Daniel</cp:lastModifiedBy>
  <cp:revision>1</cp:revision>
  <dcterms:created xsi:type="dcterms:W3CDTF">2026-05-08T19:31:18Z</dcterms:created>
  <dcterms:modified xsi:type="dcterms:W3CDTF">2026-05-08T19:34:04Z</dcterms:modified>
</cp:coreProperties>
</file>